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2" r:id="rId6"/>
    <p:sldId id="393" r:id="rId7"/>
    <p:sldId id="394" r:id="rId8"/>
    <p:sldId id="395" r:id="rId9"/>
    <p:sldId id="396" r:id="rId10"/>
    <p:sldId id="398" r:id="rId11"/>
    <p:sldId id="397" r:id="rId12"/>
    <p:sldId id="374" r:id="rId13"/>
    <p:sldId id="399"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87" autoAdjust="0"/>
    <p:restoredTop sz="95033" autoAdjust="0"/>
  </p:normalViewPr>
  <p:slideViewPr>
    <p:cSldViewPr snapToGrid="0" snapToObjects="1">
      <p:cViewPr varScale="1">
        <p:scale>
          <a:sx n="90" d="100"/>
          <a:sy n="90" d="100"/>
        </p:scale>
        <p:origin x="86" y="77"/>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01-10-2026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01-10-2026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01-10-2026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01-10-2026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01-10-2026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01-10-2026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01-10-2026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01-10-2026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01-10-2026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01-10-2026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01-10-2026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01-10-2026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01-10-2026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01-10-2026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01-10-2026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01-10-2026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01-10-2026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01-10-2026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99808" y="421768"/>
            <a:ext cx="10392383" cy="776839"/>
          </a:xfrm>
        </p:spPr>
        <p:txBody>
          <a:bodyPr>
            <a:noAutofit/>
          </a:bodyPr>
          <a:lstStyle/>
          <a:p>
            <a:pPr algn="ctr">
              <a:lnSpc>
                <a:spcPct val="100000"/>
              </a:lnSpc>
            </a:pPr>
            <a:br>
              <a:rPr lang="en-US" sz="2400" b="1" dirty="0">
                <a:solidFill>
                  <a:srgbClr val="002060"/>
                </a:solidFill>
                <a:cs typeface="Arial" panose="020B0604020202020204" pitchFamily="34" charset="0"/>
              </a:rPr>
            </a:br>
            <a:r>
              <a:rPr lang="en-US" sz="2400" b="1" dirty="0">
                <a:solidFill>
                  <a:srgbClr val="002060"/>
                </a:solidFill>
                <a:cs typeface="Arial" panose="020B0604020202020204" pitchFamily="34" charset="0"/>
              </a:rPr>
              <a:t>1</a:t>
            </a:r>
            <a:r>
              <a:rPr lang="en-US" sz="2400" b="1" baseline="30000" dirty="0">
                <a:solidFill>
                  <a:srgbClr val="002060"/>
                </a:solidFill>
                <a:cs typeface="Arial" panose="020B0604020202020204" pitchFamily="34" charset="0"/>
              </a:rPr>
              <a:t>st</a:t>
            </a:r>
            <a:r>
              <a:rPr lang="en-US" sz="2400" b="1" dirty="0">
                <a:solidFill>
                  <a:srgbClr val="002060"/>
                </a:solidFill>
                <a:cs typeface="Arial" panose="020B0604020202020204" pitchFamily="34" charset="0"/>
              </a:rPr>
              <a:t>  REVIEW</a:t>
            </a:r>
            <a:br>
              <a:rPr lang="en-US" sz="2400" b="1" dirty="0">
                <a:solidFill>
                  <a:srgbClr val="002060"/>
                </a:solidFill>
                <a:latin typeface="+mn-lt"/>
                <a:cs typeface="Arial" panose="020B0604020202020204" pitchFamily="34" charset="0"/>
              </a:rPr>
            </a:br>
            <a:br>
              <a:rPr lang="en-US" sz="2400" b="1" dirty="0">
                <a:solidFill>
                  <a:srgbClr val="002060"/>
                </a:solidFill>
                <a:latin typeface="+mn-lt"/>
                <a:cs typeface="Arial" panose="020B0604020202020204" pitchFamily="34" charset="0"/>
              </a:rPr>
            </a:br>
            <a:r>
              <a:rPr lang="en-IN" sz="2400" b="1" dirty="0">
                <a:solidFill>
                  <a:srgbClr val="002060"/>
                </a:solidFill>
              </a:rPr>
              <a:t>Smart Library Database Engineering and Student Services Portal</a:t>
            </a:r>
            <a:br>
              <a:rPr lang="en-US" sz="2400" b="1" dirty="0">
                <a:solidFill>
                  <a:srgbClr val="002060"/>
                </a:solidFill>
                <a:latin typeface="+mn-lt"/>
                <a:cs typeface="Arial" panose="020B0604020202020204" pitchFamily="34" charset="0"/>
              </a:rPr>
            </a:br>
            <a:endParaRPr lang="en-US" sz="2400" b="1" dirty="0">
              <a:solidFill>
                <a:srgbClr val="002060"/>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511215416"/>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err="1"/>
                        <a:t>A.Bhavika</a:t>
                      </a:r>
                      <a:r>
                        <a:rPr lang="en-US" dirty="0"/>
                        <a:t> Pawar</a:t>
                      </a:r>
                    </a:p>
                  </a:txBody>
                  <a:tcPr/>
                </a:tc>
                <a:tc>
                  <a:txBody>
                    <a:bodyPr/>
                    <a:lstStyle/>
                    <a:p>
                      <a:r>
                        <a:rPr lang="en-US" dirty="0"/>
                        <a:t>2520030616</a:t>
                      </a:r>
                    </a:p>
                  </a:txBody>
                  <a:tcPr/>
                </a:tc>
                <a:extLst>
                  <a:ext uri="{0D108BD9-81ED-4DB2-BD59-A6C34878D82A}">
                    <a16:rowId xmlns:a16="http://schemas.microsoft.com/office/drawing/2014/main" val="253518174"/>
                  </a:ext>
                </a:extLst>
              </a:tr>
              <a:tr h="370840">
                <a:tc>
                  <a:txBody>
                    <a:bodyPr/>
                    <a:lstStyle/>
                    <a:p>
                      <a:r>
                        <a:rPr lang="en-US" dirty="0"/>
                        <a:t>Harini </a:t>
                      </a:r>
                      <a:r>
                        <a:rPr lang="en-US" dirty="0" err="1"/>
                        <a:t>Brundavanam</a:t>
                      </a:r>
                      <a:endParaRPr lang="en-US" dirty="0"/>
                    </a:p>
                  </a:txBody>
                  <a:tcPr/>
                </a:tc>
                <a:tc>
                  <a:txBody>
                    <a:bodyPr/>
                    <a:lstStyle/>
                    <a:p>
                      <a:r>
                        <a:rPr lang="en-US" dirty="0"/>
                        <a:t>2520030384</a:t>
                      </a:r>
                    </a:p>
                  </a:txBody>
                  <a:tcPr/>
                </a:tc>
                <a:extLst>
                  <a:ext uri="{0D108BD9-81ED-4DB2-BD59-A6C34878D82A}">
                    <a16:rowId xmlns:a16="http://schemas.microsoft.com/office/drawing/2014/main" val="2413438055"/>
                  </a:ext>
                </a:extLst>
              </a:tr>
              <a:tr h="370840">
                <a:tc>
                  <a:txBody>
                    <a:bodyPr/>
                    <a:lstStyle/>
                    <a:p>
                      <a:r>
                        <a:rPr lang="en-US" dirty="0"/>
                        <a:t>Hitesh Reddy</a:t>
                      </a:r>
                    </a:p>
                  </a:txBody>
                  <a:tcPr/>
                </a:tc>
                <a:tc>
                  <a:txBody>
                    <a:bodyPr/>
                    <a:lstStyle/>
                    <a:p>
                      <a:r>
                        <a:rPr lang="en-US" dirty="0"/>
                        <a:t>2520030420</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429013799"/>
              </p:ext>
            </p:extLst>
          </p:nvPr>
        </p:nvGraphicFramePr>
        <p:xfrm>
          <a:off x="838199" y="1416193"/>
          <a:ext cx="10515600" cy="3577888"/>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Harini </a:t>
                      </a:r>
                      <a:r>
                        <a:rPr lang="en-US" dirty="0" err="1"/>
                        <a:t>Brundavanam</a:t>
                      </a:r>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&amp; Backend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A. Bhavika Pawar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PPT, ER Diagrams, 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Hitesh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Offline Caching, Notifications and Testing</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rmAutofit fontScale="85000" lnSpcReduction="10000"/>
          </a:bodyPr>
          <a:lstStyle/>
          <a:p>
            <a:r>
              <a:rPr lang="en-IN" dirty="0"/>
              <a:t>The Smart Library Management System is a web-based application developed to simplify and organize the major activities involved in library management. The system provides separate functionalities for students and administrators, allowing students to search for books, view book details, borrow and reserve books, return books, track due dates, extend eligible borrowing periods, and monitor fines. Administrators can manage books, categories, students, borrowing records, reservations, fines, and library reports through a dedicated portal.</a:t>
            </a:r>
          </a:p>
          <a:p>
            <a:r>
              <a:rPr lang="en-IN" dirty="0"/>
              <a:t>The system is developed using React, Node.js, Express.js, and MySQL, providing a structured and centralized way to manage library information. Since the frontend, backend, and database can run locally on a computer, the core functionality of the system can operate without continuous internet connectivity after the initial setup. This makes the system useful for educational institutions and local library environments where reliable internet access may not always be available.</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92500" lnSpcReduction="10000"/>
          </a:bodyPr>
          <a:lstStyle/>
          <a:p>
            <a:r>
              <a:rPr lang="en-IN" dirty="0"/>
              <a:t>Libraries manage a large amount of information every day, including book details, student records, borrowing and return activities, reservations, due dates, and fines. When these activities are handled manually, maintaining accurate records can become difficult as the number of books and users increases. Students may also have to depend on library staff to check book availability, borrowing status, due dates, or fine information.</a:t>
            </a:r>
          </a:p>
          <a:p>
            <a:r>
              <a:rPr lang="en-IN" dirty="0"/>
              <a:t>The Smart Library Management System provides a centralized digital platform to address these difficulties. It brings important library operations together in a single application and provides different interfaces according to the user's role. The system aims to make library services more organized, accessible, and efficient while reducing unnecessary manual record-keeping.</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914400" y="1537758"/>
            <a:ext cx="10515600" cy="4351338"/>
          </a:xfrm>
        </p:spPr>
        <p:txBody>
          <a:bodyPr>
            <a:normAutofit lnSpcReduction="10000"/>
          </a:bodyPr>
          <a:lstStyle/>
          <a:p>
            <a:r>
              <a:rPr lang="en-IN" dirty="0"/>
              <a:t>In the existing traditional system, libraries commonly depend on manual registers, spreadsheets, or separate records to maintain information about books and students. Borrowing and returning books, checking availability, maintaining reservation records, and tracking fines may require direct involvement from library staff. As the amount of data grows, maintaining and updating these records can become time-consuming.</a:t>
            </a:r>
          </a:p>
          <a:p>
            <a:r>
              <a:rPr lang="en-IN" dirty="0"/>
              <a:t>Students may also face difficulties in quickly accessing information about available books, current borrowings, due dates, reservations, and fines. Manual systems provide limited automation and can make it harder to maintain a complete and easily accessible history of library activities.</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92500" lnSpcReduction="10000"/>
          </a:bodyPr>
          <a:lstStyle/>
          <a:p>
            <a:r>
              <a:rPr lang="en-IN" dirty="0"/>
              <a:t>Managing library operations manually can result in difficulties while maintaining accurate book and student records, tracking borrowing and return activities, managing reservations, and monitoring overdue books and fines. The increasing number of books and students makes it more challenging for library staff to maintain records efficiently and provide updated information to users.</a:t>
            </a:r>
          </a:p>
          <a:p>
            <a:r>
              <a:rPr lang="en-IN" dirty="0"/>
              <a:t>There is therefore a need for a centralized and organized library management system that can automate common library activities and provide students and administrators with easy access to relevant information. The system should also be capable of operating locally so that essential library functions do not depend on continuous internet connectivity.</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92500" lnSpcReduction="10000"/>
          </a:bodyPr>
          <a:lstStyle/>
          <a:p>
            <a:r>
              <a:rPr lang="en-IN" dirty="0"/>
              <a:t>The proposed Smart Library Management System provides a centralized platform for digitally managing important library activities. Students can search and explore books, view availability, borrow books, make reservations, return books, monitor due dates, extend eligible borrowing periods, and check their fines. The system also provides reminders for approaching due dates and displays borrowing history.</a:t>
            </a:r>
          </a:p>
          <a:p>
            <a:r>
              <a:rPr lang="en-IN" dirty="0"/>
              <a:t>For administrators, the system provides tools to add, update, and delete books, manage categories, view students, monitor borrowing and reservation activities, manage fines, update due dates, and generate reports. The application uses a local MySQL database with a Node.js and Express.js backend, allowing the system's core operations to function locally without requiring continuous internet access.</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lnSpcReduction="10000"/>
          </a:bodyPr>
          <a:lstStyle/>
          <a:p>
            <a:r>
              <a:rPr lang="en-IN" dirty="0"/>
              <a:t>The primary objective of the Smart Library Management System is to provide a centralized and user-friendly platform for managing library activities efficiently. It aims to reduce manual work involved in maintaining book records, student information, borrowing details, reservations, returns, and fines.</a:t>
            </a:r>
          </a:p>
          <a:p>
            <a:r>
              <a:rPr lang="en-IN" dirty="0"/>
              <a:t>The system also aims to improve accessibility for students by allowing them to independently view and manage their library activities. For administrators, it provides better control and visibility over library operations. Another important objective is to provide a locally deployable system that can perform essential operations without continuous internet connectivity.</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graphicFrame>
        <p:nvGraphicFramePr>
          <p:cNvPr id="3" name="Content Placeholder 2">
            <a:extLst>
              <a:ext uri="{FF2B5EF4-FFF2-40B4-BE49-F238E27FC236}">
                <a16:creationId xmlns:a16="http://schemas.microsoft.com/office/drawing/2014/main" id="{43D38D15-4313-01FE-FA58-4AEE91C3483D}"/>
              </a:ext>
            </a:extLst>
          </p:cNvPr>
          <p:cNvGraphicFramePr>
            <a:graphicFrameLocks noGrp="1"/>
          </p:cNvGraphicFramePr>
          <p:nvPr>
            <p:ph idx="1"/>
            <p:extLst>
              <p:ext uri="{D42A27DB-BD31-4B8C-83A1-F6EECF244321}">
                <p14:modId xmlns:p14="http://schemas.microsoft.com/office/powerpoint/2010/main" val="71494543"/>
              </p:ext>
            </p:extLst>
          </p:nvPr>
        </p:nvGraphicFramePr>
        <p:xfrm>
          <a:off x="701964" y="1394690"/>
          <a:ext cx="10651836" cy="4429054"/>
        </p:xfrm>
        <a:graphic>
          <a:graphicData uri="http://schemas.openxmlformats.org/drawingml/2006/table">
            <a:tbl>
              <a:tblPr/>
              <a:tblGrid>
                <a:gridCol w="5325918">
                  <a:extLst>
                    <a:ext uri="{9D8B030D-6E8A-4147-A177-3AD203B41FA5}">
                      <a16:colId xmlns:a16="http://schemas.microsoft.com/office/drawing/2014/main" val="1475099411"/>
                    </a:ext>
                  </a:extLst>
                </a:gridCol>
                <a:gridCol w="5325918">
                  <a:extLst>
                    <a:ext uri="{9D8B030D-6E8A-4147-A177-3AD203B41FA5}">
                      <a16:colId xmlns:a16="http://schemas.microsoft.com/office/drawing/2014/main" val="520913810"/>
                    </a:ext>
                  </a:extLst>
                </a:gridCol>
              </a:tblGrid>
              <a:tr h="466216">
                <a:tc>
                  <a:txBody>
                    <a:bodyPr/>
                    <a:lstStyle/>
                    <a:p>
                      <a:pPr marL="285750" indent="-285750">
                        <a:buFont typeface="Arial" panose="020B0604020202020204" pitchFamily="34" charset="0"/>
                        <a:buChar char="•"/>
                      </a:pPr>
                      <a:r>
                        <a:rPr lang="en-IN" dirty="0"/>
                        <a:t>Member Management</a:t>
                      </a:r>
                    </a:p>
                  </a:txBody>
                  <a:tcPr anchor="ctr">
                    <a:lnL>
                      <a:noFill/>
                    </a:lnL>
                    <a:lnR>
                      <a:noFill/>
                    </a:lnR>
                    <a:lnT>
                      <a:noFill/>
                    </a:lnT>
                    <a:lnB>
                      <a:noFill/>
                    </a:lnB>
                    <a:noFill/>
                  </a:tcPr>
                </a:tc>
                <a:tc>
                  <a:txBody>
                    <a:bodyPr/>
                    <a:lstStyle/>
                    <a:p>
                      <a:pPr>
                        <a:buNone/>
                      </a:pPr>
                      <a:r>
                        <a:rPr lang="en-IN" dirty="0"/>
                        <a:t>ER Modelling, DDL, Constraints, DML</a:t>
                      </a:r>
                    </a:p>
                  </a:txBody>
                  <a:tcPr anchor="ctr">
                    <a:lnL>
                      <a:noFill/>
                    </a:lnL>
                    <a:lnR>
                      <a:noFill/>
                    </a:lnR>
                    <a:lnT>
                      <a:noFill/>
                    </a:lnT>
                    <a:lnB>
                      <a:noFill/>
                    </a:lnB>
                    <a:noFill/>
                  </a:tcPr>
                </a:tc>
                <a:extLst>
                  <a:ext uri="{0D108BD9-81ED-4DB2-BD59-A6C34878D82A}">
                    <a16:rowId xmlns:a16="http://schemas.microsoft.com/office/drawing/2014/main" val="687632927"/>
                  </a:ext>
                </a:extLst>
              </a:tr>
              <a:tr h="815879">
                <a:tc>
                  <a:txBody>
                    <a:bodyPr/>
                    <a:lstStyle/>
                    <a:p>
                      <a:pPr marL="285750" indent="-285750" algn="l">
                        <a:buFont typeface="Arial" panose="020B0604020202020204" pitchFamily="34" charset="0"/>
                        <a:buChar char="•"/>
                      </a:pPr>
                      <a:r>
                        <a:rPr lang="en-IN" dirty="0"/>
                        <a:t>Book &amp; Asset Management</a:t>
                      </a:r>
                    </a:p>
                  </a:txBody>
                  <a:tcPr anchor="ctr">
                    <a:lnL>
                      <a:noFill/>
                    </a:lnL>
                    <a:lnR>
                      <a:noFill/>
                    </a:lnR>
                    <a:lnT>
                      <a:noFill/>
                    </a:lnT>
                    <a:lnB>
                      <a:noFill/>
                    </a:lnB>
                    <a:noFill/>
                  </a:tcPr>
                </a:tc>
                <a:tc>
                  <a:txBody>
                    <a:bodyPr/>
                    <a:lstStyle/>
                    <a:p>
                      <a:pPr>
                        <a:buNone/>
                      </a:pPr>
                      <a:r>
                        <a:rPr lang="en-IN" dirty="0"/>
                        <a:t>ER Modelling, Normalisation, DDL, Indexing, SQL Queries</a:t>
                      </a:r>
                    </a:p>
                  </a:txBody>
                  <a:tcPr anchor="ctr">
                    <a:lnL>
                      <a:noFill/>
                    </a:lnL>
                    <a:lnR>
                      <a:noFill/>
                    </a:lnR>
                    <a:lnT>
                      <a:noFill/>
                    </a:lnT>
                    <a:lnB>
                      <a:noFill/>
                    </a:lnB>
                    <a:noFill/>
                  </a:tcPr>
                </a:tc>
                <a:extLst>
                  <a:ext uri="{0D108BD9-81ED-4DB2-BD59-A6C34878D82A}">
                    <a16:rowId xmlns:a16="http://schemas.microsoft.com/office/drawing/2014/main" val="3514045026"/>
                  </a:ext>
                </a:extLst>
              </a:tr>
              <a:tr h="466216">
                <a:tc>
                  <a:txBody>
                    <a:bodyPr/>
                    <a:lstStyle/>
                    <a:p>
                      <a:pPr marL="285750" indent="-285750">
                        <a:buFont typeface="Arial" panose="020B0604020202020204" pitchFamily="34" charset="0"/>
                        <a:buChar char="•"/>
                      </a:pPr>
                      <a:r>
                        <a:rPr lang="en-IN" dirty="0"/>
                        <a:t>Borrowing Management</a:t>
                      </a:r>
                    </a:p>
                  </a:txBody>
                  <a:tcPr anchor="ctr">
                    <a:lnL>
                      <a:noFill/>
                    </a:lnL>
                    <a:lnR>
                      <a:noFill/>
                    </a:lnR>
                    <a:lnT>
                      <a:noFill/>
                    </a:lnT>
                    <a:lnB>
                      <a:noFill/>
                    </a:lnB>
                    <a:noFill/>
                  </a:tcPr>
                </a:tc>
                <a:tc>
                  <a:txBody>
                    <a:bodyPr/>
                    <a:lstStyle/>
                    <a:p>
                      <a:pPr>
                        <a:buNone/>
                      </a:pPr>
                      <a:r>
                        <a:rPr lang="en-IN"/>
                        <a:t>Relationships, Joins, DML, Transactions, ACID</a:t>
                      </a:r>
                    </a:p>
                  </a:txBody>
                  <a:tcPr anchor="ctr">
                    <a:lnL>
                      <a:noFill/>
                    </a:lnL>
                    <a:lnR>
                      <a:noFill/>
                    </a:lnR>
                    <a:lnT>
                      <a:noFill/>
                    </a:lnT>
                    <a:lnB>
                      <a:noFill/>
                    </a:lnB>
                    <a:noFill/>
                  </a:tcPr>
                </a:tc>
                <a:extLst>
                  <a:ext uri="{0D108BD9-81ED-4DB2-BD59-A6C34878D82A}">
                    <a16:rowId xmlns:a16="http://schemas.microsoft.com/office/drawing/2014/main" val="2431123066"/>
                  </a:ext>
                </a:extLst>
              </a:tr>
              <a:tr h="466216">
                <a:tc>
                  <a:txBody>
                    <a:bodyPr/>
                    <a:lstStyle/>
                    <a:p>
                      <a:pPr marL="285750" indent="-285750" algn="l">
                        <a:buFont typeface="Arial" panose="020B0604020202020204" pitchFamily="34" charset="0"/>
                        <a:buChar char="•"/>
                      </a:pPr>
                      <a:r>
                        <a:rPr lang="en-IN" dirty="0"/>
                        <a:t>Reservation Management</a:t>
                      </a:r>
                    </a:p>
                  </a:txBody>
                  <a:tcPr anchor="ctr">
                    <a:lnL>
                      <a:noFill/>
                    </a:lnL>
                    <a:lnR>
                      <a:noFill/>
                    </a:lnR>
                    <a:lnT>
                      <a:noFill/>
                    </a:lnT>
                    <a:lnB>
                      <a:noFill/>
                    </a:lnB>
                    <a:noFill/>
                  </a:tcPr>
                </a:tc>
                <a:tc>
                  <a:txBody>
                    <a:bodyPr/>
                    <a:lstStyle/>
                    <a:p>
                      <a:pPr>
                        <a:buNone/>
                      </a:pPr>
                      <a:r>
                        <a:rPr lang="en-IN" dirty="0"/>
                        <a:t>Relationships, Constraints, DML, Transactions</a:t>
                      </a:r>
                    </a:p>
                  </a:txBody>
                  <a:tcPr anchor="ctr">
                    <a:lnL>
                      <a:noFill/>
                    </a:lnL>
                    <a:lnR>
                      <a:noFill/>
                    </a:lnR>
                    <a:lnT>
                      <a:noFill/>
                    </a:lnT>
                    <a:lnB>
                      <a:noFill/>
                    </a:lnB>
                    <a:noFill/>
                  </a:tcPr>
                </a:tc>
                <a:extLst>
                  <a:ext uri="{0D108BD9-81ED-4DB2-BD59-A6C34878D82A}">
                    <a16:rowId xmlns:a16="http://schemas.microsoft.com/office/drawing/2014/main" val="2495427623"/>
                  </a:ext>
                </a:extLst>
              </a:tr>
              <a:tr h="466216">
                <a:tc>
                  <a:txBody>
                    <a:bodyPr/>
                    <a:lstStyle/>
                    <a:p>
                      <a:pPr marL="285750" indent="-285750">
                        <a:buFont typeface="Arial" panose="020B0604020202020204" pitchFamily="34" charset="0"/>
                        <a:buChar char="•"/>
                      </a:pPr>
                      <a:r>
                        <a:rPr lang="en-IN" dirty="0"/>
                        <a:t>Fine Management</a:t>
                      </a:r>
                    </a:p>
                  </a:txBody>
                  <a:tcPr anchor="ctr">
                    <a:lnL>
                      <a:noFill/>
                    </a:lnL>
                    <a:lnR>
                      <a:noFill/>
                    </a:lnR>
                    <a:lnT>
                      <a:noFill/>
                    </a:lnT>
                    <a:lnB>
                      <a:noFill/>
                    </a:lnB>
                    <a:noFill/>
                  </a:tcPr>
                </a:tc>
                <a:tc>
                  <a:txBody>
                    <a:bodyPr/>
                    <a:lstStyle/>
                    <a:p>
                      <a:pPr>
                        <a:buNone/>
                      </a:pPr>
                      <a:r>
                        <a:rPr lang="en-IN" dirty="0"/>
                        <a:t>DML, Aggregates, Procedures, Triggers</a:t>
                      </a:r>
                    </a:p>
                  </a:txBody>
                  <a:tcPr anchor="ctr">
                    <a:lnL>
                      <a:noFill/>
                    </a:lnL>
                    <a:lnR>
                      <a:noFill/>
                    </a:lnR>
                    <a:lnT>
                      <a:noFill/>
                    </a:lnT>
                    <a:lnB>
                      <a:noFill/>
                    </a:lnB>
                    <a:noFill/>
                  </a:tcPr>
                </a:tc>
                <a:extLst>
                  <a:ext uri="{0D108BD9-81ED-4DB2-BD59-A6C34878D82A}">
                    <a16:rowId xmlns:a16="http://schemas.microsoft.com/office/drawing/2014/main" val="4056898697"/>
                  </a:ext>
                </a:extLst>
              </a:tr>
              <a:tr h="815879">
                <a:tc>
                  <a:txBody>
                    <a:bodyPr/>
                    <a:lstStyle/>
                    <a:p>
                      <a:pPr marL="285750" indent="-285750">
                        <a:buFont typeface="Arial" panose="020B0604020202020204" pitchFamily="34" charset="0"/>
                        <a:buChar char="•"/>
                      </a:pPr>
                      <a:r>
                        <a:rPr lang="en-IN" dirty="0"/>
                        <a:t>Search &amp; Reports</a:t>
                      </a:r>
                    </a:p>
                  </a:txBody>
                  <a:tcPr anchor="ctr">
                    <a:lnL>
                      <a:noFill/>
                    </a:lnL>
                    <a:lnR>
                      <a:noFill/>
                    </a:lnR>
                    <a:lnT>
                      <a:noFill/>
                    </a:lnT>
                    <a:lnB>
                      <a:noFill/>
                    </a:lnB>
                    <a:noFill/>
                  </a:tcPr>
                </a:tc>
                <a:tc>
                  <a:txBody>
                    <a:bodyPr/>
                    <a:lstStyle/>
                    <a:p>
                      <a:pPr>
                        <a:buNone/>
                      </a:pPr>
                      <a:r>
                        <a:rPr lang="en-IN" dirty="0"/>
                        <a:t>Joins, Subqueries, CTEs, Aggregates, Window Functions, Indexing</a:t>
                      </a:r>
                    </a:p>
                  </a:txBody>
                  <a:tcPr anchor="ctr">
                    <a:lnL>
                      <a:noFill/>
                    </a:lnL>
                    <a:lnR>
                      <a:noFill/>
                    </a:lnR>
                    <a:lnT>
                      <a:noFill/>
                    </a:lnT>
                    <a:lnB>
                      <a:noFill/>
                    </a:lnB>
                    <a:noFill/>
                  </a:tcPr>
                </a:tc>
                <a:extLst>
                  <a:ext uri="{0D108BD9-81ED-4DB2-BD59-A6C34878D82A}">
                    <a16:rowId xmlns:a16="http://schemas.microsoft.com/office/drawing/2014/main" val="3797398559"/>
                  </a:ext>
                </a:extLst>
              </a:tr>
              <a:tr h="466216">
                <a:tc>
                  <a:txBody>
                    <a:bodyPr/>
                    <a:lstStyle/>
                    <a:p>
                      <a:pPr marL="285750" indent="-285750">
                        <a:buFont typeface="Arial" panose="020B0604020202020204" pitchFamily="34" charset="0"/>
                        <a:buChar char="•"/>
                      </a:pPr>
                      <a:r>
                        <a:rPr lang="en-IN" dirty="0"/>
                        <a:t>Member History</a:t>
                      </a:r>
                    </a:p>
                  </a:txBody>
                  <a:tcPr anchor="ctr">
                    <a:lnL>
                      <a:noFill/>
                    </a:lnL>
                    <a:lnR>
                      <a:noFill/>
                    </a:lnR>
                    <a:lnT>
                      <a:noFill/>
                    </a:lnT>
                    <a:lnB>
                      <a:noFill/>
                    </a:lnB>
                    <a:noFill/>
                  </a:tcPr>
                </a:tc>
                <a:tc>
                  <a:txBody>
                    <a:bodyPr/>
                    <a:lstStyle/>
                    <a:p>
                      <a:pPr>
                        <a:buNone/>
                      </a:pPr>
                      <a:r>
                        <a:rPr lang="en-IN" dirty="0"/>
                        <a:t>Joins, Views, Aggregates</a:t>
                      </a:r>
                    </a:p>
                  </a:txBody>
                  <a:tcPr anchor="ctr">
                    <a:lnL>
                      <a:noFill/>
                    </a:lnL>
                    <a:lnR>
                      <a:noFill/>
                    </a:lnR>
                    <a:lnT>
                      <a:noFill/>
                    </a:lnT>
                    <a:lnB>
                      <a:noFill/>
                    </a:lnB>
                    <a:noFill/>
                  </a:tcPr>
                </a:tc>
                <a:extLst>
                  <a:ext uri="{0D108BD9-81ED-4DB2-BD59-A6C34878D82A}">
                    <a16:rowId xmlns:a16="http://schemas.microsoft.com/office/drawing/2014/main" val="2580037404"/>
                  </a:ext>
                </a:extLst>
              </a:tr>
              <a:tr h="466216">
                <a:tc>
                  <a:txBody>
                    <a:bodyPr/>
                    <a:lstStyle/>
                    <a:p>
                      <a:pPr marL="285750" indent="-285750">
                        <a:buFont typeface="Arial" panose="020B0604020202020204" pitchFamily="34" charset="0"/>
                        <a:buChar char="•"/>
                      </a:pPr>
                      <a:r>
                        <a:rPr lang="en-IN" dirty="0"/>
                        <a:t>Admin Management</a:t>
                      </a:r>
                    </a:p>
                  </a:txBody>
                  <a:tcPr anchor="ctr">
                    <a:lnL>
                      <a:noFill/>
                    </a:lnL>
                    <a:lnR>
                      <a:noFill/>
                    </a:lnR>
                    <a:lnT>
                      <a:noFill/>
                    </a:lnT>
                    <a:lnB>
                      <a:noFill/>
                    </a:lnB>
                    <a:noFill/>
                  </a:tcPr>
                </a:tc>
                <a:tc>
                  <a:txBody>
                    <a:bodyPr/>
                    <a:lstStyle/>
                    <a:p>
                      <a:pPr>
                        <a:buNone/>
                      </a:pPr>
                      <a:r>
                        <a:rPr lang="en-IN" dirty="0"/>
                        <a:t>DDL, DML, Constraints, Transactions</a:t>
                      </a:r>
                    </a:p>
                  </a:txBody>
                  <a:tcPr anchor="ctr">
                    <a:lnL>
                      <a:noFill/>
                    </a:lnL>
                    <a:lnR>
                      <a:noFill/>
                    </a:lnR>
                    <a:lnT>
                      <a:noFill/>
                    </a:lnT>
                    <a:lnB>
                      <a:noFill/>
                    </a:lnB>
                    <a:noFill/>
                  </a:tcPr>
                </a:tc>
                <a:extLst>
                  <a:ext uri="{0D108BD9-81ED-4DB2-BD59-A6C34878D82A}">
                    <a16:rowId xmlns:a16="http://schemas.microsoft.com/office/drawing/2014/main" val="3462025453"/>
                  </a:ext>
                </a:extLst>
              </a:tr>
            </a:tbl>
          </a:graphicData>
        </a:graphic>
      </p:graphicFrame>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a:xfrm>
            <a:off x="838200" y="1487055"/>
            <a:ext cx="10515600" cy="4689908"/>
          </a:xfrm>
        </p:spPr>
        <p:txBody>
          <a:bodyPr>
            <a:normAutofit fontScale="85000" lnSpcReduction="10000"/>
          </a:bodyPr>
          <a:lstStyle/>
          <a:p>
            <a:r>
              <a:rPr lang="en-IN" dirty="0"/>
              <a:t>Windows 10/11 – Operating system for developing and running the project. </a:t>
            </a:r>
          </a:p>
          <a:p>
            <a:r>
              <a:rPr lang="en-IN" dirty="0"/>
              <a:t>Visual Studio Code – Used for writing, editing, and managing the project code. </a:t>
            </a:r>
          </a:p>
          <a:p>
            <a:r>
              <a:rPr lang="en-IN" dirty="0"/>
              <a:t>React.js – Used to develop the frontend and user interface of the web portal. </a:t>
            </a:r>
          </a:p>
          <a:p>
            <a:r>
              <a:rPr lang="en-IN" dirty="0"/>
              <a:t>Node.js – Used to run the backend application and server-side JavaScript. </a:t>
            </a:r>
          </a:p>
          <a:p>
            <a:r>
              <a:rPr lang="en-IN" dirty="0"/>
              <a:t>Express.js – Used to create the backend server and REST APIs. </a:t>
            </a:r>
          </a:p>
          <a:p>
            <a:r>
              <a:rPr lang="en-IN" dirty="0"/>
              <a:t>MySQL – Used to store and manage student, book, and borrowing records. </a:t>
            </a:r>
          </a:p>
          <a:p>
            <a:r>
              <a:rPr lang="en-IN" dirty="0"/>
              <a:t>MySQL Workbench – Used to create, manage, and visualize the MySQL database. </a:t>
            </a:r>
          </a:p>
          <a:p>
            <a:r>
              <a:rPr lang="en-IN" dirty="0"/>
              <a:t>Postman – Used to test and verify the backend APIs. </a:t>
            </a:r>
          </a:p>
          <a:p>
            <a:r>
              <a:rPr lang="en-IN" dirty="0"/>
              <a:t>Git &amp; GitHub – Used for version control and collaboration among team members. </a:t>
            </a:r>
          </a:p>
          <a:p>
            <a:r>
              <a:rPr lang="en-IN" dirty="0"/>
              <a:t>Google Chrome – Used to run, test, and debug the web application.</a:t>
            </a:r>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FAB138AB-05D9-49BB-6FD2-6DA08F2EC74D}"/>
              </a:ext>
            </a:extLst>
          </p:cNvPr>
          <p:cNvSpPr txBox="1"/>
          <p:nvPr/>
        </p:nvSpPr>
        <p:spPr>
          <a:xfrm>
            <a:off x="969818" y="1320801"/>
            <a:ext cx="10233891" cy="5262979"/>
          </a:xfrm>
          <a:prstGeom prst="rect">
            <a:avLst/>
          </a:prstGeom>
          <a:noFill/>
        </p:spPr>
        <p:txBody>
          <a:bodyPr wrap="square" rtlCol="0">
            <a:spAutoFit/>
          </a:bodyPr>
          <a:lstStyle/>
          <a:p>
            <a:r>
              <a:rPr lang="en-IN" sz="2800" dirty="0"/>
              <a:t>The </a:t>
            </a:r>
            <a:r>
              <a:rPr lang="en-IN" sz="2800" b="1" dirty="0"/>
              <a:t>Smart Library Management System</a:t>
            </a:r>
            <a:r>
              <a:rPr lang="en-IN" sz="2800" dirty="0"/>
              <a:t> provides a structured digital solution for managing the major activities of a library. By integrating book management, borrowing, reservations, returns, due-date tracking, fine management, and administrative reports into one platform, the system reduces dependence on manual record-keeping and makes information easier to manage.</a:t>
            </a:r>
          </a:p>
          <a:p>
            <a:r>
              <a:rPr lang="en-IN" sz="2800" dirty="0"/>
              <a:t>The system provides separate student and administrator functionalities, improving the overall organization of library operations. Its React-based interface, Node.js and Express.js backend, and MySQL database provide a complete full-stack solution, while its ability to run locally makes it suitable for academic and institutional environments where continuous internet connectivity is not required.</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EDCB3DA-9277-8556-FEE2-07ADC2F4F3A5}"/>
              </a:ext>
            </a:extLst>
          </p:cNvPr>
          <p:cNvSpPr>
            <a:spLocks noGrp="1"/>
          </p:cNvSpPr>
          <p:nvPr>
            <p:ph type="dt" sz="half" idx="10"/>
          </p:nvPr>
        </p:nvSpPr>
        <p:spPr/>
        <p:txBody>
          <a:bodyPr/>
          <a:lstStyle/>
          <a:p>
            <a:fld id="{3C447009-55DF-4EA5-900B-29AFB7C8438A}" type="datetime1">
              <a:rPr lang="en-IN" smtClean="0"/>
              <a:t>01-10-2026</a:t>
            </a:fld>
            <a:endParaRPr lang="en-US"/>
          </a:p>
        </p:txBody>
      </p:sp>
      <p:sp>
        <p:nvSpPr>
          <p:cNvPr id="5" name="Footer Placeholder 4">
            <a:extLst>
              <a:ext uri="{FF2B5EF4-FFF2-40B4-BE49-F238E27FC236}">
                <a16:creationId xmlns:a16="http://schemas.microsoft.com/office/drawing/2014/main" id="{6D831EBE-1DEC-B5FC-F4B2-9C48F42A61C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29F2D60-32C4-4EAB-D2C4-ADB32CD390FA}"/>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3" name="Picture 2">
            <a:extLst>
              <a:ext uri="{FF2B5EF4-FFF2-40B4-BE49-F238E27FC236}">
                <a16:creationId xmlns:a16="http://schemas.microsoft.com/office/drawing/2014/main" id="{0DE4316B-9990-A655-9513-E310CC04B474}"/>
              </a:ext>
            </a:extLst>
          </p:cNvPr>
          <p:cNvPicPr>
            <a:picLocks noChangeAspect="1"/>
          </p:cNvPicPr>
          <p:nvPr/>
        </p:nvPicPr>
        <p:blipFill>
          <a:blip r:embed="rId2"/>
          <a:stretch>
            <a:fillRect/>
          </a:stretch>
        </p:blipFill>
        <p:spPr>
          <a:xfrm>
            <a:off x="1744132" y="237066"/>
            <a:ext cx="8542867" cy="6484409"/>
          </a:xfrm>
          <a:prstGeom prst="rect">
            <a:avLst/>
          </a:prstGeom>
        </p:spPr>
      </p:pic>
    </p:spTree>
    <p:extLst>
      <p:ext uri="{BB962C8B-B14F-4D97-AF65-F5344CB8AC3E}">
        <p14:creationId xmlns:p14="http://schemas.microsoft.com/office/powerpoint/2010/main" val="627266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8343</TotalTime>
  <Words>1236</Words>
  <Application>Microsoft Office PowerPoint</Application>
  <PresentationFormat>Widescreen</PresentationFormat>
  <Paragraphs>111</Paragraphs>
  <Slides>13</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Calibri</vt:lpstr>
      <vt:lpstr>Calibri Light</vt:lpstr>
      <vt:lpstr>Office Theme</vt:lpstr>
      <vt:lpstr>Custom Design</vt:lpstr>
      <vt:lpstr> 1st  REVIEW  Smart Library Database Engineering and Student Services Portal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bvrvrharini@outlook.com</cp:lastModifiedBy>
  <cp:revision>96</cp:revision>
  <dcterms:created xsi:type="dcterms:W3CDTF">2022-05-20T10:20:31Z</dcterms:created>
  <dcterms:modified xsi:type="dcterms:W3CDTF">2026-10-01T03:35:35Z</dcterms:modified>
</cp:coreProperties>
</file>